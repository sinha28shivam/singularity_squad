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Parkinsans SemiBold" panose="020B0604020202020204" charset="0"/>
      <p:regular r:id="rId11"/>
    </p:embeddedFont>
    <p:embeddedFont>
      <p:font typeface="Reddit Sans" panose="020B0604020202020204" charset="0"/>
      <p:regular r:id="rId12"/>
    </p:embeddedFont>
    <p:embeddedFont>
      <p:font typeface="Reddit Sans Bold" panose="020B0604020202020204" charset="0"/>
      <p:regular r:id="rId13"/>
    </p:embeddedFont>
    <p:embeddedFont>
      <p:font typeface="Reddit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24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166" y="1179513"/>
            <a:ext cx="685465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SINGULARITY · WORKPLACE OPERATIONS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5166" y="1540955"/>
            <a:ext cx="6245069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One intelligent flow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from request to payment.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5166" y="4535488"/>
            <a:ext cx="685465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Singularity Workplace Operations Copilot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5166" y="5143500"/>
            <a:ext cx="2060821" cy="38100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/>
        </p:spPr>
      </p:sp>
      <p:sp>
        <p:nvSpPr>
          <p:cNvPr id="6" name="Text 4"/>
          <p:cNvSpPr/>
          <p:nvPr/>
        </p:nvSpPr>
        <p:spPr>
          <a:xfrm>
            <a:off x="865166" y="5427980"/>
            <a:ext cx="6854654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 coordinated operating layer for large-company workplace operations.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6C00B6-E0A1-BEEA-0CD1-B59761542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4" y="633143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85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290513"/>
            <a:ext cx="744201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CURRENT OPERATING MODEL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673483" y="620522"/>
            <a:ext cx="6832429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Too many handoffs.</a:t>
            </a:r>
            <a:endParaRPr lang="en-US" sz="3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Too little context.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673483" y="1671677"/>
            <a:ext cx="6832429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Employee request → Manager(Orchestrator) → policy → vendor → procurement → PO → delivery → invoice → finance.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673483" y="2593618"/>
            <a:ext cx="6832429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Scattered intake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Requests live across tools and inboxes.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673483" y="3455233"/>
            <a:ext cx="6832429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Late controls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Policy and budget checks happen after momentum builds.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673483" y="4316849"/>
            <a:ext cx="6832429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Manual coordination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Vendor follow-up and invoice validation rely on people stitching the story together.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673483" y="5482273"/>
            <a:ext cx="6832429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No single owner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Nobody sees the complete operational context end to end.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673483" y="6404213"/>
            <a:ext cx="744201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The problem is not lack of data. It is disconnected execution.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673483" y="3321645"/>
            <a:ext cx="6832429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2" name="Shape 9"/>
          <p:cNvSpPr/>
          <p:nvPr/>
        </p:nvSpPr>
        <p:spPr>
          <a:xfrm>
            <a:off x="4673483" y="4183261"/>
            <a:ext cx="6832429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3" name="Shape 10"/>
          <p:cNvSpPr/>
          <p:nvPr/>
        </p:nvSpPr>
        <p:spPr>
          <a:xfrm>
            <a:off x="4673483" y="5348684"/>
            <a:ext cx="6832429" cy="12700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F6ED26-918A-7B85-72A4-D838D22DF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474" y="633143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5313"/>
            <a:ext cx="113789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OPERATING PROMISE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925322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One request becomes a verified operational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1537395"/>
            <a:ext cx="8266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1182" y="1830784"/>
            <a:ext cx="1925192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1946672"/>
            <a:ext cx="192519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Intake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2402523"/>
            <a:ext cx="1925192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Extracts date, location, headcount, budget and event type.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093563" y="1537395"/>
            <a:ext cx="8663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093563" y="1830784"/>
            <a:ext cx="1696598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0" name="Text 8"/>
          <p:cNvSpPr/>
          <p:nvPr/>
        </p:nvSpPr>
        <p:spPr>
          <a:xfrm>
            <a:off x="3093563" y="1946672"/>
            <a:ext cx="169669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Policy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93563" y="2402523"/>
            <a:ext cx="1696697" cy="1519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Checks event rules, per-head limits and approved vendors.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247449" y="1537395"/>
            <a:ext cx="865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247449" y="1830784"/>
            <a:ext cx="1696598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4" name="Text 12"/>
          <p:cNvSpPr/>
          <p:nvPr/>
        </p:nvSpPr>
        <p:spPr>
          <a:xfrm>
            <a:off x="5247449" y="1946672"/>
            <a:ext cx="169669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47449" y="2402523"/>
            <a:ext cx="1696697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Compares vendors, availability and rate cards.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01335" y="1537395"/>
            <a:ext cx="8720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01335" y="1830784"/>
            <a:ext cx="1696598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8" name="Text 16"/>
          <p:cNvSpPr/>
          <p:nvPr/>
        </p:nvSpPr>
        <p:spPr>
          <a:xfrm>
            <a:off x="7401335" y="1946672"/>
            <a:ext cx="169669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Procure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01335" y="2402523"/>
            <a:ext cx="1696697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Validates budget and approval level, then drafts the PO.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55221" y="1537395"/>
            <a:ext cx="86724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555221" y="1830784"/>
            <a:ext cx="1925192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2" name="Text 20"/>
          <p:cNvSpPr/>
          <p:nvPr/>
        </p:nvSpPr>
        <p:spPr>
          <a:xfrm>
            <a:off x="9555221" y="1946672"/>
            <a:ext cx="192519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Bill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55221" y="2402523"/>
            <a:ext cx="1925192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Matches invoice, PO, rates and delivery while detecting duplicates.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11182" y="4108648"/>
            <a:ext cx="10769331" cy="65940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25" name="Text 23"/>
          <p:cNvSpPr/>
          <p:nvPr/>
        </p:nvSpPr>
        <p:spPr>
          <a:xfrm>
            <a:off x="939776" y="4286687"/>
            <a:ext cx="1054073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“Organize a workplace event for 80 employees in Lucknow within a ₹2 lakh budget.”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11182" y="4962049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request does not stop at recommending a vendor. It continues through the operational lifecycle.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58619" y="1537395"/>
            <a:ext cx="12700" cy="2383929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012505" y="1537395"/>
            <a:ext cx="12700" cy="2383929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9" name="Shape 27"/>
          <p:cNvSpPr/>
          <p:nvPr/>
        </p:nvSpPr>
        <p:spPr>
          <a:xfrm>
            <a:off x="7166391" y="1537395"/>
            <a:ext cx="12700" cy="2383929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30" name="Shape 28"/>
          <p:cNvSpPr/>
          <p:nvPr/>
        </p:nvSpPr>
        <p:spPr>
          <a:xfrm>
            <a:off x="9320277" y="1537395"/>
            <a:ext cx="12700" cy="2383929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9C6AD9-49D5-E4A4-7052-482732CE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4" y="633143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315913"/>
            <a:ext cx="113789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MULTI-AGENT OPERATING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645922"/>
            <a:ext cx="10769331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A team of specialized agents, coordinated by one manager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696839"/>
            <a:ext cx="3488146" cy="4441230"/>
          </a:xfrm>
          <a:prstGeom prst="rect">
            <a:avLst/>
          </a:prstGeom>
          <a:solidFill>
            <a:srgbClr val="35233F"/>
          </a:solidFill>
          <a:ln/>
        </p:spPr>
      </p:sp>
      <p:sp>
        <p:nvSpPr>
          <p:cNvPr id="5" name="Text 3"/>
          <p:cNvSpPr/>
          <p:nvPr/>
        </p:nvSpPr>
        <p:spPr>
          <a:xfrm>
            <a:off x="1015975" y="2624931"/>
            <a:ext cx="318335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5975" y="2954941"/>
            <a:ext cx="2878562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Manager /</a:t>
            </a:r>
            <a:endParaRPr lang="en-US" sz="3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FFFFF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Orchestrator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15975" y="4006096"/>
            <a:ext cx="2878562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Understands the goal, delegates work, tracks state, and decides when humans are needed.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04121" y="1707952"/>
            <a:ext cx="325955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Intake &amp; Triage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04121" y="2163802"/>
            <a:ext cx="3259552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Extracts requirements; asks for missing fields.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0862" y="1707952"/>
            <a:ext cx="325965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Policy Advisor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0862" y="2163802"/>
            <a:ext cx="3259651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Retrieves cited handbook and event-policy clauses.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04121" y="3239492"/>
            <a:ext cx="325955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Planner &amp; Vendor Matcher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4121" y="3695343"/>
            <a:ext cx="3259552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Finds vendors, checks calendars, and builds the plan.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20862" y="3239492"/>
            <a:ext cx="325965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Procurement Agent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0862" y="3695343"/>
            <a:ext cx="3259651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Validates budget and approval rules; drafts the PO.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04121" y="4771033"/>
            <a:ext cx="325955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Billing Guardian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04121" y="5226883"/>
            <a:ext cx="3259552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Parses invoices; performs three-way matching and detects duplicates.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0862" y="4771033"/>
            <a:ext cx="325965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Critic Agent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0862" y="5226883"/>
            <a:ext cx="3259651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Independently reviews policy, budget, and date conflicts.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11182" y="6325394"/>
            <a:ext cx="10769331" cy="60860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21" name="Text 19"/>
          <p:cNvSpPr/>
          <p:nvPr/>
        </p:nvSpPr>
        <p:spPr>
          <a:xfrm>
            <a:off x="939776" y="6478032"/>
            <a:ext cx="1054073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Shared ticket state · enterprise tools · complete audit trail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connect the team.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985917" y="1696839"/>
            <a:ext cx="12700" cy="1302941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04121" y="2993430"/>
            <a:ext cx="348814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985917" y="2999780"/>
            <a:ext cx="12700" cy="1531541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2267" y="2993430"/>
            <a:ext cx="348824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04121" y="4524970"/>
            <a:ext cx="348814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5917" y="4531320"/>
            <a:ext cx="12700" cy="1606748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8" name="Shape 26"/>
          <p:cNvSpPr/>
          <p:nvPr/>
        </p:nvSpPr>
        <p:spPr>
          <a:xfrm>
            <a:off x="7992267" y="4524970"/>
            <a:ext cx="3488246" cy="12700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1A57218-8F07-6B3D-CEC2-C16FF2664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4" y="6407435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44513"/>
            <a:ext cx="113789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WOW MOMENT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874522"/>
            <a:ext cx="10769331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Beyond automation: observe, reason, act, verify, replan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925439"/>
            <a:ext cx="6627547" cy="425727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5" name="Shape 3"/>
          <p:cNvSpPr/>
          <p:nvPr/>
        </p:nvSpPr>
        <p:spPr>
          <a:xfrm>
            <a:off x="1015975" y="2204839"/>
            <a:ext cx="1868639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6" name="Text 4"/>
          <p:cNvSpPr/>
          <p:nvPr/>
        </p:nvSpPr>
        <p:spPr>
          <a:xfrm>
            <a:off x="1141682" y="2272705"/>
            <a:ext cx="2226810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CONFLICT 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5975" y="2628503"/>
            <a:ext cx="601796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selected hall becomes unavailable.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5975" y="3084354"/>
            <a:ext cx="6017963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manager detects the conflict, preserves the request context and opens a recovery path instead of restarting the workflow.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15975" y="3864769"/>
            <a:ext cx="1985913" cy="38100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/>
        </p:spPr>
      </p:sp>
      <p:sp>
        <p:nvSpPr>
          <p:cNvPr id="10" name="Text 8"/>
          <p:cNvSpPr/>
          <p:nvPr/>
        </p:nvSpPr>
        <p:spPr>
          <a:xfrm>
            <a:off x="1015975" y="4075906"/>
            <a:ext cx="6017963" cy="103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Safe autonomously: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search, analyze, recommend, draft and validate.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Human approval: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booking or financial commitment.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43423" y="2074168"/>
            <a:ext cx="8266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70053" y="2027277"/>
            <a:ext cx="3410361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Manager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detects the conflict.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43423" y="2581176"/>
            <a:ext cx="8663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09739" y="2534285"/>
            <a:ext cx="3370674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Planner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searches alternative venues.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43423" y="3391991"/>
            <a:ext cx="865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09144" y="3345101"/>
            <a:ext cx="3371270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Policy Advisor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re-checks compliance.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43423" y="4202807"/>
            <a:ext cx="8720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15395" y="4155916"/>
            <a:ext cx="3365019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Procurement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validates revised cost and approval level.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43423" y="5013623"/>
            <a:ext cx="86724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110632" y="4966732"/>
            <a:ext cx="3369781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Critic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reviews the revised plan.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43423" y="5520630"/>
            <a:ext cx="8678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06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11228" y="5473740"/>
            <a:ext cx="3369186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Human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approves the consequential step.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1182" y="637671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system does not merely automate a path. It keeps the plan alive when reality changes.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43423" y="2426097"/>
            <a:ext cx="3836991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43423" y="3236913"/>
            <a:ext cx="3836991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43423" y="4047728"/>
            <a:ext cx="3836991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7" name="Shape 25"/>
          <p:cNvSpPr/>
          <p:nvPr/>
        </p:nvSpPr>
        <p:spPr>
          <a:xfrm>
            <a:off x="7643423" y="4858544"/>
            <a:ext cx="3836991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8" name="Shape 26"/>
          <p:cNvSpPr/>
          <p:nvPr/>
        </p:nvSpPr>
        <p:spPr>
          <a:xfrm>
            <a:off x="7643423" y="5365552"/>
            <a:ext cx="3836991" cy="12700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41BB8EA-6655-D9AA-CE46-DD3C269AB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4" y="633143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023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82" y="1390452"/>
            <a:ext cx="113789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PILOT SCORECARD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1182" y="1720461"/>
            <a:ext cx="10769331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Business impact: faster, safer and more controllable operations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1182" y="2782491"/>
            <a:ext cx="336115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Productivity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1182" y="3238341"/>
            <a:ext cx="3361150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Request-to-approval time, manual touchpoints and requests resolved without intervention.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29520" y="2782491"/>
            <a:ext cx="313255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Cost control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29520" y="3238341"/>
            <a:ext cx="3132555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Leakage avoided, duplicate invoices and invoice mismatches.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119264" y="2782491"/>
            <a:ext cx="336115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Compliance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19264" y="3238341"/>
            <a:ext cx="3361150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Policy violations, approval compliance and audit completeness.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11182" y="4617839"/>
            <a:ext cx="336115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Employee experience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1182" y="5073690"/>
            <a:ext cx="3361150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Resolution time, SLA adherence and status-query reduction.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529520" y="4617839"/>
            <a:ext cx="695089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29520" y="5073690"/>
            <a:ext cx="6950893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Extend the same architecture to facilities, catering, travel and office services.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11182" y="5868392"/>
            <a:ext cx="10769331" cy="60860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6" name="Text 13"/>
          <p:cNvSpPr/>
          <p:nvPr/>
        </p:nvSpPr>
        <p:spPr>
          <a:xfrm>
            <a:off x="939776" y="6021030"/>
            <a:ext cx="1054073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Pilot KPIs to measure — not fabricated percentages.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294576" y="2771378"/>
            <a:ext cx="12700" cy="1606748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8" name="Shape 15"/>
          <p:cNvSpPr/>
          <p:nvPr/>
        </p:nvSpPr>
        <p:spPr>
          <a:xfrm>
            <a:off x="7884320" y="2771378"/>
            <a:ext cx="12700" cy="1606748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9" name="Shape 16"/>
          <p:cNvSpPr/>
          <p:nvPr/>
        </p:nvSpPr>
        <p:spPr>
          <a:xfrm>
            <a:off x="711182" y="4371777"/>
            <a:ext cx="3589744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0" name="Shape 17"/>
          <p:cNvSpPr/>
          <p:nvPr/>
        </p:nvSpPr>
        <p:spPr>
          <a:xfrm>
            <a:off x="4294576" y="4378127"/>
            <a:ext cx="12700" cy="1302941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1" name="Shape 18"/>
          <p:cNvSpPr/>
          <p:nvPr/>
        </p:nvSpPr>
        <p:spPr>
          <a:xfrm>
            <a:off x="4300926" y="4371777"/>
            <a:ext cx="7179488" cy="12700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00AFF1-1DF0-1068-46C9-F66015C18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474" y="633143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9913"/>
            <a:ext cx="741661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THE SINGULARITY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82" y="899922"/>
            <a:ext cx="6807030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From request to payment: intelligent, connected and accountable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2389684"/>
            <a:ext cx="8266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1182" y="2683073"/>
            <a:ext cx="1132653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798961"/>
            <a:ext cx="113275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Request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3254812"/>
            <a:ext cx="1132752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Employee need enters once, with context.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301123" y="2389684"/>
            <a:ext cx="8663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301123" y="2683073"/>
            <a:ext cx="904257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0" name="Text 8"/>
          <p:cNvSpPr/>
          <p:nvPr/>
        </p:nvSpPr>
        <p:spPr>
          <a:xfrm>
            <a:off x="2301123" y="2798961"/>
            <a:ext cx="904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Manager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01123" y="3572312"/>
            <a:ext cx="904257" cy="1822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AI Manager coordinates specialist agents.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662569" y="2389684"/>
            <a:ext cx="865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662569" y="2683073"/>
            <a:ext cx="904158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4" name="Text 12"/>
          <p:cNvSpPr/>
          <p:nvPr/>
        </p:nvSpPr>
        <p:spPr>
          <a:xfrm>
            <a:off x="3662569" y="2798961"/>
            <a:ext cx="9041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Systems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62569" y="3572312"/>
            <a:ext cx="904158" cy="1519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Enterprise tools carry the plan into action.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023915" y="2389684"/>
            <a:ext cx="8720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023915" y="2683073"/>
            <a:ext cx="904257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3915" y="2798961"/>
            <a:ext cx="904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Approval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3915" y="3572312"/>
            <a:ext cx="904257" cy="1822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Humans gate consequential commitments.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85361" y="2389684"/>
            <a:ext cx="86724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385361" y="2683073"/>
            <a:ext cx="1132653" cy="1905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2" name="Text 20"/>
          <p:cNvSpPr/>
          <p:nvPr/>
        </p:nvSpPr>
        <p:spPr>
          <a:xfrm>
            <a:off x="6385361" y="2798961"/>
            <a:ext cx="113275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Payment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85361" y="3254812"/>
            <a:ext cx="1132752" cy="1519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Invoice checks close the loop into audit.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11182" y="5582245"/>
            <a:ext cx="6807030" cy="1216223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377" y="5734883"/>
            <a:ext cx="6400640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Agentic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· reasons and coordinates beyond fixed workflows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Connected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· one shared state across the lifecycle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b="1" dirty="0">
                <a:solidFill>
                  <a:srgbClr val="35233F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Self-recovering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· detects conflicts and replans</a:t>
            </a:r>
            <a:endParaRPr lang="en-US" sz="16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7281069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066179" y="2389684"/>
            <a:ext cx="12700" cy="3005237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8" name="Shape 25"/>
          <p:cNvSpPr/>
          <p:nvPr/>
        </p:nvSpPr>
        <p:spPr>
          <a:xfrm>
            <a:off x="3427624" y="2389684"/>
            <a:ext cx="12700" cy="3005237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9" name="Shape 26"/>
          <p:cNvSpPr/>
          <p:nvPr/>
        </p:nvSpPr>
        <p:spPr>
          <a:xfrm>
            <a:off x="4788971" y="2389684"/>
            <a:ext cx="12700" cy="3005237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30" name="Shape 27"/>
          <p:cNvSpPr/>
          <p:nvPr/>
        </p:nvSpPr>
        <p:spPr>
          <a:xfrm>
            <a:off x="6150416" y="2389684"/>
            <a:ext cx="12700" cy="3005237"/>
          </a:xfrm>
          <a:prstGeom prst="rect">
            <a:avLst/>
          </a:prstGeom>
          <a:solidFill>
            <a:srgbClr val="8054D9"/>
          </a:solidFill>
          <a:ln/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2BAF00-0F9C-6CF1-5DE2-5F3C7DE57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159" y="6754502"/>
            <a:ext cx="1143526" cy="526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C6E53-091C-2388-9C4E-C9F1400E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17647-1CE2-6274-BA96-A7BD417E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74" y="6331433"/>
            <a:ext cx="1143526" cy="5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36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638</Words>
  <Application>Microsoft Office PowerPoint</Application>
  <PresentationFormat>Widescreen</PresentationFormat>
  <Paragraphs>116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Reddit Sans Bold</vt:lpstr>
      <vt:lpstr>Reddit Sans SemiBold</vt:lpstr>
      <vt:lpstr>Parkinsans SemiBold</vt:lpstr>
      <vt:lpstr>Arial</vt:lpstr>
      <vt:lpstr>Reddit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Benidhar Das</cp:lastModifiedBy>
  <cp:revision>3</cp:revision>
  <dcterms:created xsi:type="dcterms:W3CDTF">2026-10-17T09:14:19Z</dcterms:created>
  <dcterms:modified xsi:type="dcterms:W3CDTF">2026-10-17T12:06:20Z</dcterms:modified>
</cp:coreProperties>
</file>