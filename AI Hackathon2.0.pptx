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embeddedFontLst>
    <p:embeddedFont>
      <p:font typeface="Parkinsans SemiBold" panose="020B0604020202020204" charset="0"/>
      <p:regular r:id="rId11"/>
    </p:embeddedFont>
    <p:embeddedFont>
      <p:font typeface="Reddit Sans" panose="020B0604020202020204" charset="0"/>
      <p:regular r:id="rId12"/>
    </p:embeddedFont>
    <p:embeddedFont>
      <p:font typeface="Reddit Sans Bold" panose="020B0604020202020204" charset="0"/>
      <p:regular r:id="rId13"/>
    </p:embeddedFont>
    <p:embeddedFont>
      <p:font typeface="Reddit Sans SemiBold" panose="020B0604020202020204" charset="0"/>
      <p:regular r:id="rId1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629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42413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FF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2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bg>
      <p:bgPr>
        <a:solidFill>
          <a:srgbClr val="FF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5166" y="1179513"/>
            <a:ext cx="6854654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kern="100" spc="7" dirty="0">
                <a:solidFill>
                  <a:srgbClr val="FFFFFF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SINGULARITY · WORKPLACE OPERATIONS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65166" y="1540955"/>
            <a:ext cx="6245069" cy="28527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5400" kern="100" spc="-97" dirty="0">
                <a:solidFill>
                  <a:srgbClr val="FFFFFF"/>
                </a:solidFill>
                <a:latin typeface="Parkinsans SemiBold" pitchFamily="34" charset="0"/>
                <a:ea typeface="Parkinsans SemiBold" pitchFamily="34" charset="-122"/>
                <a:cs typeface="Parkinsans SemiBold" pitchFamily="34" charset="-120"/>
              </a:rPr>
              <a:t>One intelligent flow</a:t>
            </a:r>
            <a:endParaRPr lang="en-US" sz="5400" dirty="0"/>
          </a:p>
          <a:p>
            <a:pPr marL="0" indent="0" algn="l">
              <a:lnSpc>
                <a:spcPct val="87000"/>
              </a:lnSpc>
              <a:buNone/>
            </a:pPr>
            <a:r>
              <a:rPr lang="en-US" sz="5400" kern="100" spc="-97" dirty="0">
                <a:solidFill>
                  <a:srgbClr val="FFFFFF"/>
                </a:solidFill>
                <a:latin typeface="Parkinsans SemiBold" pitchFamily="34" charset="0"/>
                <a:ea typeface="Parkinsans SemiBold" pitchFamily="34" charset="-122"/>
                <a:cs typeface="Parkinsans SemiBold" pitchFamily="34" charset="-120"/>
              </a:rPr>
              <a:t>from request to payment.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65166" y="4535488"/>
            <a:ext cx="6854654" cy="368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Singularity Workplace Operations Copilot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65166" y="5143500"/>
            <a:ext cx="2060821" cy="38100"/>
          </a:xfrm>
          <a:prstGeom prst="roundRect">
            <a:avLst>
              <a:gd name="adj" fmla="val 49999"/>
            </a:avLst>
          </a:prstGeom>
          <a:solidFill>
            <a:srgbClr val="8054D9"/>
          </a:solidFill>
          <a:ln/>
        </p:spPr>
      </p:sp>
      <p:sp>
        <p:nvSpPr>
          <p:cNvPr id="6" name="Text 4"/>
          <p:cNvSpPr/>
          <p:nvPr/>
        </p:nvSpPr>
        <p:spPr>
          <a:xfrm>
            <a:off x="865166" y="5427980"/>
            <a:ext cx="685465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A coordinated operating layer for large-company workplace operations.</a:t>
            </a:r>
            <a:endParaRPr lang="en-US" sz="1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B6C00B6-E0A1-BEEA-0CD1-B59761542D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474" y="6331432"/>
            <a:ext cx="1143526" cy="52656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063898" cy="688558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73483" y="290513"/>
            <a:ext cx="7442014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kern="100" spc="7" dirty="0">
                <a:solidFill>
                  <a:srgbClr val="8054D9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THE CURRENT OPERATING MODEL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4673483" y="620522"/>
            <a:ext cx="6832429" cy="8776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3200" kern="100" spc="-38" dirty="0">
                <a:solidFill>
                  <a:srgbClr val="35233F"/>
                </a:solidFill>
                <a:latin typeface="Parkinsans SemiBold" pitchFamily="34" charset="0"/>
                <a:ea typeface="Parkinsans SemiBold" pitchFamily="34" charset="-122"/>
                <a:cs typeface="Parkinsans SemiBold" pitchFamily="34" charset="-120"/>
              </a:rPr>
              <a:t>Too many handoffs.</a:t>
            </a:r>
            <a:endParaRPr lang="en-US" sz="3200" dirty="0"/>
          </a:p>
          <a:p>
            <a:pPr marL="0" indent="0" algn="l">
              <a:lnSpc>
                <a:spcPct val="90000"/>
              </a:lnSpc>
              <a:buNone/>
            </a:pPr>
            <a:r>
              <a:rPr lang="en-US" sz="3200" kern="100" spc="-38" dirty="0">
                <a:solidFill>
                  <a:srgbClr val="35233F"/>
                </a:solidFill>
                <a:latin typeface="Parkinsans SemiBold" pitchFamily="34" charset="0"/>
                <a:ea typeface="Parkinsans SemiBold" pitchFamily="34" charset="-122"/>
                <a:cs typeface="Parkinsans SemiBold" pitchFamily="34" charset="-120"/>
              </a:rPr>
              <a:t>Too little context.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4673483" y="1671677"/>
            <a:ext cx="6832429" cy="607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Employee request → Manager(Orchestrator) → policy → vendor → procurement → PO → delivery → invoice → finance.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4673483" y="2593618"/>
            <a:ext cx="6832429" cy="607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b="1" dirty="0">
                <a:solidFill>
                  <a:srgbClr val="35233F"/>
                </a:solidFill>
                <a:latin typeface="Reddit Sans Bold" pitchFamily="34" charset="0"/>
                <a:ea typeface="Reddit Sans Bold" pitchFamily="34" charset="-122"/>
                <a:cs typeface="Reddit Sans Bold" pitchFamily="34" charset="-120"/>
              </a:rPr>
              <a:t>Scattered intake</a:t>
            </a:r>
            <a:endParaRPr lang="en-US" sz="1650" dirty="0"/>
          </a:p>
          <a:p>
            <a:pPr marL="0" indent="0" algn="l">
              <a:lnSpc>
                <a:spcPct val="121000"/>
              </a:lnSpc>
              <a:buNone/>
            </a:pP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Requests live across tools and inboxes.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4673483" y="3455233"/>
            <a:ext cx="6832429" cy="607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b="1" dirty="0">
                <a:solidFill>
                  <a:srgbClr val="35233F"/>
                </a:solidFill>
                <a:latin typeface="Reddit Sans Bold" pitchFamily="34" charset="0"/>
                <a:ea typeface="Reddit Sans Bold" pitchFamily="34" charset="-122"/>
                <a:cs typeface="Reddit Sans Bold" pitchFamily="34" charset="-120"/>
              </a:rPr>
              <a:t>Late controls</a:t>
            </a:r>
            <a:endParaRPr lang="en-US" sz="1650" dirty="0"/>
          </a:p>
          <a:p>
            <a:pPr marL="0" indent="0" algn="l">
              <a:lnSpc>
                <a:spcPct val="121000"/>
              </a:lnSpc>
              <a:buNone/>
            </a:pP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Policy and budget checks happen after momentum builds.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4673483" y="4316849"/>
            <a:ext cx="6832429" cy="9114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b="1" dirty="0">
                <a:solidFill>
                  <a:srgbClr val="35233F"/>
                </a:solidFill>
                <a:latin typeface="Reddit Sans Bold" pitchFamily="34" charset="0"/>
                <a:ea typeface="Reddit Sans Bold" pitchFamily="34" charset="-122"/>
                <a:cs typeface="Reddit Sans Bold" pitchFamily="34" charset="-120"/>
              </a:rPr>
              <a:t>Manual coordination</a:t>
            </a:r>
            <a:endParaRPr lang="en-US" sz="1650" dirty="0"/>
          </a:p>
          <a:p>
            <a:pPr marL="0" indent="0" algn="l">
              <a:lnSpc>
                <a:spcPct val="121000"/>
              </a:lnSpc>
              <a:buNone/>
            </a:pP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Vendor follow-up and invoice validation rely on people stitching the story together.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4673483" y="5482273"/>
            <a:ext cx="6832429" cy="607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b="1" dirty="0">
                <a:solidFill>
                  <a:srgbClr val="35233F"/>
                </a:solidFill>
                <a:latin typeface="Reddit Sans Bold" pitchFamily="34" charset="0"/>
                <a:ea typeface="Reddit Sans Bold" pitchFamily="34" charset="-122"/>
                <a:cs typeface="Reddit Sans Bold" pitchFamily="34" charset="-120"/>
              </a:rPr>
              <a:t>No single owner</a:t>
            </a:r>
            <a:endParaRPr lang="en-US" sz="1650" dirty="0"/>
          </a:p>
          <a:p>
            <a:pPr marL="0" indent="0" algn="l">
              <a:lnSpc>
                <a:spcPct val="121000"/>
              </a:lnSpc>
              <a:buNone/>
            </a:pP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Nobody sees the complete operational context end to end.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4673483" y="6404213"/>
            <a:ext cx="7442014" cy="3038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b="1" dirty="0">
                <a:solidFill>
                  <a:srgbClr val="35233F"/>
                </a:solidFill>
                <a:latin typeface="Reddit Sans Bold" pitchFamily="34" charset="0"/>
                <a:ea typeface="Reddit Sans Bold" pitchFamily="34" charset="-122"/>
                <a:cs typeface="Reddit Sans Bold" pitchFamily="34" charset="-120"/>
              </a:rPr>
              <a:t>The problem is not lack of data. It is disconnected execution.</a:t>
            </a:r>
            <a:endParaRPr lang="en-US" sz="1650" dirty="0"/>
          </a:p>
        </p:txBody>
      </p:sp>
      <p:sp>
        <p:nvSpPr>
          <p:cNvPr id="11" name="Shape 8"/>
          <p:cNvSpPr/>
          <p:nvPr/>
        </p:nvSpPr>
        <p:spPr>
          <a:xfrm>
            <a:off x="4673483" y="3321645"/>
            <a:ext cx="6832429" cy="12700"/>
          </a:xfrm>
          <a:prstGeom prst="rect">
            <a:avLst/>
          </a:prstGeom>
          <a:solidFill>
            <a:srgbClr val="8054D9"/>
          </a:solidFill>
          <a:ln/>
        </p:spPr>
      </p:sp>
      <p:sp>
        <p:nvSpPr>
          <p:cNvPr id="12" name="Shape 9"/>
          <p:cNvSpPr/>
          <p:nvPr/>
        </p:nvSpPr>
        <p:spPr>
          <a:xfrm>
            <a:off x="4673483" y="4183261"/>
            <a:ext cx="6832429" cy="12700"/>
          </a:xfrm>
          <a:prstGeom prst="rect">
            <a:avLst/>
          </a:prstGeom>
          <a:solidFill>
            <a:srgbClr val="8054D9"/>
          </a:solidFill>
          <a:ln/>
        </p:spPr>
      </p:sp>
      <p:sp>
        <p:nvSpPr>
          <p:cNvPr id="13" name="Shape 10"/>
          <p:cNvSpPr/>
          <p:nvPr/>
        </p:nvSpPr>
        <p:spPr>
          <a:xfrm>
            <a:off x="4673483" y="5348684"/>
            <a:ext cx="6832429" cy="12700"/>
          </a:xfrm>
          <a:prstGeom prst="rect">
            <a:avLst/>
          </a:prstGeom>
          <a:solidFill>
            <a:srgbClr val="8054D9"/>
          </a:solidFill>
          <a:ln/>
        </p:spPr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7F6ED26-918A-7B85-72A4-D838D22DF6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474" y="6331432"/>
            <a:ext cx="1143526" cy="52656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182" y="595313"/>
            <a:ext cx="11378915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kern="100" spc="7" dirty="0">
                <a:solidFill>
                  <a:srgbClr val="8054D9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THE OPERATING PROMISE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11182" y="925322"/>
            <a:ext cx="10769331" cy="438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3200" kern="100" spc="-38" dirty="0">
                <a:solidFill>
                  <a:srgbClr val="35233F"/>
                </a:solidFill>
                <a:latin typeface="Parkinsans SemiBold" pitchFamily="34" charset="0"/>
                <a:ea typeface="Parkinsans SemiBold" pitchFamily="34" charset="-122"/>
                <a:cs typeface="Parkinsans SemiBold" pitchFamily="34" charset="-120"/>
              </a:rPr>
              <a:t>One request becomes a verified operational plan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11182" y="1537395"/>
            <a:ext cx="82667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650" dirty="0">
                <a:solidFill>
                  <a:srgbClr val="8054D9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01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11182" y="1830784"/>
            <a:ext cx="1925192" cy="19050"/>
          </a:xfrm>
          <a:prstGeom prst="rect">
            <a:avLst/>
          </a:prstGeom>
          <a:solidFill>
            <a:srgbClr val="8054D9"/>
          </a:solidFill>
          <a:ln/>
        </p:spPr>
      </p:sp>
      <p:sp>
        <p:nvSpPr>
          <p:cNvPr id="6" name="Text 4"/>
          <p:cNvSpPr/>
          <p:nvPr/>
        </p:nvSpPr>
        <p:spPr>
          <a:xfrm>
            <a:off x="711182" y="1946672"/>
            <a:ext cx="1925192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35233F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Intake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11182" y="2402523"/>
            <a:ext cx="1925192" cy="12152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Extracts date, location, headcount, budget and event type.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3093563" y="1537395"/>
            <a:ext cx="866356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650" dirty="0">
                <a:solidFill>
                  <a:srgbClr val="8054D9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02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3093563" y="1830784"/>
            <a:ext cx="1696598" cy="19050"/>
          </a:xfrm>
          <a:prstGeom prst="rect">
            <a:avLst/>
          </a:prstGeom>
          <a:solidFill>
            <a:srgbClr val="8054D9"/>
          </a:solidFill>
          <a:ln/>
        </p:spPr>
      </p:sp>
      <p:sp>
        <p:nvSpPr>
          <p:cNvPr id="10" name="Text 8"/>
          <p:cNvSpPr/>
          <p:nvPr/>
        </p:nvSpPr>
        <p:spPr>
          <a:xfrm>
            <a:off x="3093563" y="1946672"/>
            <a:ext cx="1696697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35233F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Policy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093563" y="2402523"/>
            <a:ext cx="1696697" cy="15190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Checks event rules, per-head limits and approved vendors.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5247449" y="1537395"/>
            <a:ext cx="865761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650" dirty="0">
                <a:solidFill>
                  <a:srgbClr val="8054D9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03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5247449" y="1830784"/>
            <a:ext cx="1696598" cy="19050"/>
          </a:xfrm>
          <a:prstGeom prst="rect">
            <a:avLst/>
          </a:prstGeom>
          <a:solidFill>
            <a:srgbClr val="8054D9"/>
          </a:solidFill>
          <a:ln/>
        </p:spPr>
      </p:sp>
      <p:sp>
        <p:nvSpPr>
          <p:cNvPr id="14" name="Text 12"/>
          <p:cNvSpPr/>
          <p:nvPr/>
        </p:nvSpPr>
        <p:spPr>
          <a:xfrm>
            <a:off x="5247449" y="1946672"/>
            <a:ext cx="1696697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35233F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Plan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247449" y="2402523"/>
            <a:ext cx="1696697" cy="12152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Compares vendors, availability and rate cards.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7401335" y="1537395"/>
            <a:ext cx="872012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650" dirty="0">
                <a:solidFill>
                  <a:srgbClr val="8054D9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04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7401335" y="1830784"/>
            <a:ext cx="1696598" cy="19050"/>
          </a:xfrm>
          <a:prstGeom prst="rect">
            <a:avLst/>
          </a:prstGeom>
          <a:solidFill>
            <a:srgbClr val="8054D9"/>
          </a:solidFill>
          <a:ln/>
        </p:spPr>
      </p:sp>
      <p:sp>
        <p:nvSpPr>
          <p:cNvPr id="18" name="Text 16"/>
          <p:cNvSpPr/>
          <p:nvPr/>
        </p:nvSpPr>
        <p:spPr>
          <a:xfrm>
            <a:off x="7401335" y="1946672"/>
            <a:ext cx="1696697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35233F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Procure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401335" y="2402523"/>
            <a:ext cx="1696697" cy="12152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Validates budget and approval level, then drafts the PO.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9555221" y="1537395"/>
            <a:ext cx="867249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650" dirty="0">
                <a:solidFill>
                  <a:srgbClr val="8054D9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05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9555221" y="1830784"/>
            <a:ext cx="1925192" cy="19050"/>
          </a:xfrm>
          <a:prstGeom prst="rect">
            <a:avLst/>
          </a:prstGeom>
          <a:solidFill>
            <a:srgbClr val="8054D9"/>
          </a:solidFill>
          <a:ln/>
        </p:spPr>
      </p:sp>
      <p:sp>
        <p:nvSpPr>
          <p:cNvPr id="22" name="Text 20"/>
          <p:cNvSpPr/>
          <p:nvPr/>
        </p:nvSpPr>
        <p:spPr>
          <a:xfrm>
            <a:off x="9555221" y="1946672"/>
            <a:ext cx="1925192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35233F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Bill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555221" y="2402523"/>
            <a:ext cx="1925192" cy="12152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Matches invoice, PO, rates and delivery while detecting duplicates.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711182" y="4108648"/>
            <a:ext cx="10769331" cy="659408"/>
          </a:xfrm>
          <a:prstGeom prst="rect">
            <a:avLst/>
          </a:prstGeom>
          <a:solidFill>
            <a:srgbClr val="FBEFE4"/>
          </a:solidFill>
          <a:ln/>
        </p:spPr>
      </p:sp>
      <p:sp>
        <p:nvSpPr>
          <p:cNvPr id="25" name="Text 23"/>
          <p:cNvSpPr/>
          <p:nvPr/>
        </p:nvSpPr>
        <p:spPr>
          <a:xfrm>
            <a:off x="939776" y="4286687"/>
            <a:ext cx="10540736" cy="3038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b="1" dirty="0">
                <a:solidFill>
                  <a:srgbClr val="35233F"/>
                </a:solidFill>
                <a:latin typeface="Reddit Sans Bold" pitchFamily="34" charset="0"/>
                <a:ea typeface="Reddit Sans Bold" pitchFamily="34" charset="-122"/>
                <a:cs typeface="Reddit Sans Bold" pitchFamily="34" charset="-120"/>
              </a:rPr>
              <a:t>“Organize a workplace event for 80 employees in Lucknow within a ₹2 lakh budget.”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711182" y="4962049"/>
            <a:ext cx="11378915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5E4B68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The request does not stop at recommending a vendor. It continues through the operational lifecycle.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858619" y="1537395"/>
            <a:ext cx="12700" cy="2383929"/>
          </a:xfrm>
          <a:prstGeom prst="rect">
            <a:avLst/>
          </a:prstGeom>
          <a:solidFill>
            <a:srgbClr val="8054D9"/>
          </a:solidFill>
          <a:ln/>
        </p:spPr>
      </p:sp>
      <p:sp>
        <p:nvSpPr>
          <p:cNvPr id="28" name="Shape 26"/>
          <p:cNvSpPr/>
          <p:nvPr/>
        </p:nvSpPr>
        <p:spPr>
          <a:xfrm>
            <a:off x="5012505" y="1537395"/>
            <a:ext cx="12700" cy="2383929"/>
          </a:xfrm>
          <a:prstGeom prst="rect">
            <a:avLst/>
          </a:prstGeom>
          <a:solidFill>
            <a:srgbClr val="8054D9"/>
          </a:solidFill>
          <a:ln/>
        </p:spPr>
      </p:sp>
      <p:sp>
        <p:nvSpPr>
          <p:cNvPr id="29" name="Shape 27"/>
          <p:cNvSpPr/>
          <p:nvPr/>
        </p:nvSpPr>
        <p:spPr>
          <a:xfrm>
            <a:off x="7166391" y="1537395"/>
            <a:ext cx="12700" cy="2383929"/>
          </a:xfrm>
          <a:prstGeom prst="rect">
            <a:avLst/>
          </a:prstGeom>
          <a:solidFill>
            <a:srgbClr val="8054D9"/>
          </a:solidFill>
          <a:ln/>
        </p:spPr>
      </p:sp>
      <p:sp>
        <p:nvSpPr>
          <p:cNvPr id="30" name="Shape 28"/>
          <p:cNvSpPr/>
          <p:nvPr/>
        </p:nvSpPr>
        <p:spPr>
          <a:xfrm>
            <a:off x="9320277" y="1537395"/>
            <a:ext cx="12700" cy="2383929"/>
          </a:xfrm>
          <a:prstGeom prst="rect">
            <a:avLst/>
          </a:prstGeom>
          <a:solidFill>
            <a:srgbClr val="8054D9"/>
          </a:solidFill>
          <a:ln/>
        </p:spPr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0D9C6AD9-49D5-E4A4-7052-482732CEE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474" y="6331432"/>
            <a:ext cx="1143526" cy="52656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182" y="315913"/>
            <a:ext cx="11378915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kern="100" spc="7" dirty="0">
                <a:solidFill>
                  <a:srgbClr val="8054D9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MULTI-AGENT OPERATING MODEL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11182" y="645922"/>
            <a:ext cx="10769331" cy="8776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3200" kern="100" spc="-38" dirty="0">
                <a:solidFill>
                  <a:srgbClr val="35233F"/>
                </a:solidFill>
                <a:latin typeface="Parkinsans SemiBold" pitchFamily="34" charset="0"/>
                <a:ea typeface="Parkinsans SemiBold" pitchFamily="34" charset="-122"/>
                <a:cs typeface="Parkinsans SemiBold" pitchFamily="34" charset="-120"/>
              </a:rPr>
              <a:t>A team of specialized agents, coordinated by one manager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1182" y="1696839"/>
            <a:ext cx="3488146" cy="4441230"/>
          </a:xfrm>
          <a:prstGeom prst="rect">
            <a:avLst/>
          </a:prstGeom>
          <a:solidFill>
            <a:srgbClr val="35233F"/>
          </a:solidFill>
          <a:ln/>
        </p:spPr>
      </p:sp>
      <p:sp>
        <p:nvSpPr>
          <p:cNvPr id="5" name="Text 3"/>
          <p:cNvSpPr/>
          <p:nvPr/>
        </p:nvSpPr>
        <p:spPr>
          <a:xfrm>
            <a:off x="1015975" y="2624931"/>
            <a:ext cx="3183354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kern="100" spc="7" dirty="0">
                <a:solidFill>
                  <a:srgbClr val="FFFFFF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CONTROL PLANE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15975" y="2954941"/>
            <a:ext cx="2878562" cy="8776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3200" kern="100" spc="-38" dirty="0">
                <a:solidFill>
                  <a:srgbClr val="FFFFFF"/>
                </a:solidFill>
                <a:latin typeface="Parkinsans SemiBold" pitchFamily="34" charset="0"/>
                <a:ea typeface="Parkinsans SemiBold" pitchFamily="34" charset="-122"/>
                <a:cs typeface="Parkinsans SemiBold" pitchFamily="34" charset="-120"/>
              </a:rPr>
              <a:t>Manager /</a:t>
            </a:r>
            <a:endParaRPr lang="en-US" sz="3200" dirty="0"/>
          </a:p>
          <a:p>
            <a:pPr marL="0" indent="0" algn="l">
              <a:lnSpc>
                <a:spcPct val="90000"/>
              </a:lnSpc>
              <a:buNone/>
            </a:pPr>
            <a:r>
              <a:rPr lang="en-US" sz="3200" kern="100" spc="-38" dirty="0">
                <a:solidFill>
                  <a:srgbClr val="FFFFFF"/>
                </a:solidFill>
                <a:latin typeface="Parkinsans SemiBold" pitchFamily="34" charset="0"/>
                <a:ea typeface="Parkinsans SemiBold" pitchFamily="34" charset="-122"/>
                <a:cs typeface="Parkinsans SemiBold" pitchFamily="34" charset="-120"/>
              </a:rPr>
              <a:t>Orchestrator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15975" y="4006096"/>
            <a:ext cx="2878562" cy="12152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Understands the goal, delegates work, tracks state, and decides when humans are needed.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4504121" y="1707952"/>
            <a:ext cx="3259552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35233F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Intake &amp; Triage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04121" y="2163802"/>
            <a:ext cx="3259552" cy="607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Extracts requirements; asks for missing fields.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8220862" y="1707952"/>
            <a:ext cx="3259651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35233F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Policy Advisor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220862" y="2163802"/>
            <a:ext cx="3259651" cy="607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Retrieves cited handbook and event-policy clauses.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504121" y="3239492"/>
            <a:ext cx="3259552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35233F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Planner &amp; Vendor Matcher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04121" y="3695343"/>
            <a:ext cx="3259552" cy="607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Finds vendors, checks calendars, and builds the plan.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8220862" y="3239492"/>
            <a:ext cx="3259651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35233F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Procurement Agent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220862" y="3695343"/>
            <a:ext cx="3259651" cy="607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Validates budget and approval rules; drafts the PO.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4504121" y="4771033"/>
            <a:ext cx="3259552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35233F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Billing Guardian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504121" y="5226883"/>
            <a:ext cx="3259552" cy="9114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Parses invoices; performs three-way matching and detects duplicates.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220862" y="4771033"/>
            <a:ext cx="3259651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35233F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Critic Agent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220862" y="5226883"/>
            <a:ext cx="3259651" cy="607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Independently reviews policy, budget, and date conflicts.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711182" y="6325394"/>
            <a:ext cx="10769331" cy="608608"/>
          </a:xfrm>
          <a:prstGeom prst="rect">
            <a:avLst/>
          </a:prstGeom>
          <a:solidFill>
            <a:srgbClr val="FBEFE4"/>
          </a:solidFill>
          <a:ln/>
        </p:spPr>
      </p:sp>
      <p:sp>
        <p:nvSpPr>
          <p:cNvPr id="21" name="Text 19"/>
          <p:cNvSpPr/>
          <p:nvPr/>
        </p:nvSpPr>
        <p:spPr>
          <a:xfrm>
            <a:off x="939776" y="6478032"/>
            <a:ext cx="10540736" cy="3038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b="1" dirty="0">
                <a:solidFill>
                  <a:srgbClr val="35233F"/>
                </a:solidFill>
                <a:latin typeface="Reddit Sans Bold" pitchFamily="34" charset="0"/>
                <a:ea typeface="Reddit Sans Bold" pitchFamily="34" charset="-122"/>
                <a:cs typeface="Reddit Sans Bold" pitchFamily="34" charset="-120"/>
              </a:rPr>
              <a:t>Shared ticket state · enterprise tools · complete audit trail</a:t>
            </a: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 connect the team.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7985917" y="1696839"/>
            <a:ext cx="12700" cy="1302941"/>
          </a:xfrm>
          <a:prstGeom prst="rect">
            <a:avLst/>
          </a:prstGeom>
          <a:solidFill>
            <a:srgbClr val="8054D9"/>
          </a:solidFill>
          <a:ln/>
        </p:spPr>
      </p:sp>
      <p:sp>
        <p:nvSpPr>
          <p:cNvPr id="23" name="Shape 21"/>
          <p:cNvSpPr/>
          <p:nvPr/>
        </p:nvSpPr>
        <p:spPr>
          <a:xfrm>
            <a:off x="4504121" y="2993430"/>
            <a:ext cx="3488146" cy="12700"/>
          </a:xfrm>
          <a:prstGeom prst="rect">
            <a:avLst/>
          </a:prstGeom>
          <a:solidFill>
            <a:srgbClr val="8054D9"/>
          </a:solidFill>
          <a:ln/>
        </p:spPr>
      </p:sp>
      <p:sp>
        <p:nvSpPr>
          <p:cNvPr id="24" name="Shape 22"/>
          <p:cNvSpPr/>
          <p:nvPr/>
        </p:nvSpPr>
        <p:spPr>
          <a:xfrm>
            <a:off x="7985917" y="2999780"/>
            <a:ext cx="12700" cy="1531541"/>
          </a:xfrm>
          <a:prstGeom prst="rect">
            <a:avLst/>
          </a:prstGeom>
          <a:solidFill>
            <a:srgbClr val="8054D9"/>
          </a:solidFill>
          <a:ln/>
        </p:spPr>
      </p:sp>
      <p:sp>
        <p:nvSpPr>
          <p:cNvPr id="25" name="Shape 23"/>
          <p:cNvSpPr/>
          <p:nvPr/>
        </p:nvSpPr>
        <p:spPr>
          <a:xfrm>
            <a:off x="7992267" y="2993430"/>
            <a:ext cx="3488246" cy="12700"/>
          </a:xfrm>
          <a:prstGeom prst="rect">
            <a:avLst/>
          </a:prstGeom>
          <a:solidFill>
            <a:srgbClr val="8054D9"/>
          </a:solidFill>
          <a:ln/>
        </p:spPr>
      </p:sp>
      <p:sp>
        <p:nvSpPr>
          <p:cNvPr id="26" name="Shape 24"/>
          <p:cNvSpPr/>
          <p:nvPr/>
        </p:nvSpPr>
        <p:spPr>
          <a:xfrm>
            <a:off x="4504121" y="4524970"/>
            <a:ext cx="3488146" cy="12700"/>
          </a:xfrm>
          <a:prstGeom prst="rect">
            <a:avLst/>
          </a:prstGeom>
          <a:solidFill>
            <a:srgbClr val="8054D9"/>
          </a:solidFill>
          <a:ln/>
        </p:spPr>
      </p:sp>
      <p:sp>
        <p:nvSpPr>
          <p:cNvPr id="27" name="Shape 25"/>
          <p:cNvSpPr/>
          <p:nvPr/>
        </p:nvSpPr>
        <p:spPr>
          <a:xfrm>
            <a:off x="7985917" y="4531320"/>
            <a:ext cx="12700" cy="1606748"/>
          </a:xfrm>
          <a:prstGeom prst="rect">
            <a:avLst/>
          </a:prstGeom>
          <a:solidFill>
            <a:srgbClr val="8054D9"/>
          </a:solidFill>
          <a:ln/>
        </p:spPr>
      </p:sp>
      <p:sp>
        <p:nvSpPr>
          <p:cNvPr id="28" name="Shape 26"/>
          <p:cNvSpPr/>
          <p:nvPr/>
        </p:nvSpPr>
        <p:spPr>
          <a:xfrm>
            <a:off x="7992267" y="4524970"/>
            <a:ext cx="3488246" cy="12700"/>
          </a:xfrm>
          <a:prstGeom prst="rect">
            <a:avLst/>
          </a:prstGeom>
          <a:solidFill>
            <a:srgbClr val="8054D9"/>
          </a:solidFill>
          <a:ln/>
        </p:spPr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21A57218-8F07-6B3D-CEC2-C16FF2664D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474" y="6407435"/>
            <a:ext cx="1143526" cy="52656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182" y="544513"/>
            <a:ext cx="11378915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kern="100" spc="7" dirty="0">
                <a:solidFill>
                  <a:srgbClr val="8054D9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THE WOW MOMENT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11182" y="874522"/>
            <a:ext cx="10769331" cy="8776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3200" kern="100" spc="-38" dirty="0">
                <a:solidFill>
                  <a:srgbClr val="35233F"/>
                </a:solidFill>
                <a:latin typeface="Parkinsans SemiBold" pitchFamily="34" charset="0"/>
                <a:ea typeface="Parkinsans SemiBold" pitchFamily="34" charset="-122"/>
                <a:cs typeface="Parkinsans SemiBold" pitchFamily="34" charset="-120"/>
              </a:rPr>
              <a:t>Beyond automation: observe, reason, act, verify, replan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1182" y="1925439"/>
            <a:ext cx="6627547" cy="4257278"/>
          </a:xfrm>
          <a:prstGeom prst="rect">
            <a:avLst/>
          </a:prstGeom>
          <a:solidFill>
            <a:srgbClr val="FBEFE4"/>
          </a:solidFill>
          <a:ln/>
        </p:spPr>
      </p:sp>
      <p:sp>
        <p:nvSpPr>
          <p:cNvPr id="5" name="Shape 3"/>
          <p:cNvSpPr/>
          <p:nvPr/>
        </p:nvSpPr>
        <p:spPr>
          <a:xfrm>
            <a:off x="1015975" y="2204839"/>
            <a:ext cx="1868639" cy="326827"/>
          </a:xfrm>
          <a:prstGeom prst="roundRect">
            <a:avLst>
              <a:gd name="adj" fmla="val 46163"/>
            </a:avLst>
          </a:prstGeom>
          <a:solidFill>
            <a:srgbClr val="E0D5F6"/>
          </a:solidFill>
          <a:ln/>
        </p:spPr>
      </p:sp>
      <p:sp>
        <p:nvSpPr>
          <p:cNvPr id="6" name="Text 4"/>
          <p:cNvSpPr/>
          <p:nvPr/>
        </p:nvSpPr>
        <p:spPr>
          <a:xfrm>
            <a:off x="1141682" y="2272705"/>
            <a:ext cx="2226810" cy="201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" dirty="0">
                <a:solidFill>
                  <a:srgbClr val="35233F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CONFLICT DETECTED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15975" y="2628503"/>
            <a:ext cx="6017963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35233F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The selected hall becomes unavailable.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15975" y="3084354"/>
            <a:ext cx="6017963" cy="607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The manager detects the conflict, preserves the request context and opens a recovery path instead of restarting the workflow.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1015975" y="3864769"/>
            <a:ext cx="1985913" cy="38100"/>
          </a:xfrm>
          <a:prstGeom prst="roundRect">
            <a:avLst>
              <a:gd name="adj" fmla="val 49999"/>
            </a:avLst>
          </a:prstGeom>
          <a:solidFill>
            <a:srgbClr val="8054D9"/>
          </a:solidFill>
          <a:ln/>
        </p:spPr>
      </p:sp>
      <p:sp>
        <p:nvSpPr>
          <p:cNvPr id="10" name="Text 8"/>
          <p:cNvSpPr/>
          <p:nvPr/>
        </p:nvSpPr>
        <p:spPr>
          <a:xfrm>
            <a:off x="1015975" y="4075906"/>
            <a:ext cx="6017963" cy="10320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spcAft>
                <a:spcPts val="900"/>
              </a:spcAft>
              <a:buNone/>
            </a:pPr>
            <a:r>
              <a:rPr lang="en-US" sz="1650" b="1" dirty="0">
                <a:solidFill>
                  <a:srgbClr val="35233F"/>
                </a:solidFill>
                <a:latin typeface="Reddit Sans Bold" pitchFamily="34" charset="0"/>
                <a:ea typeface="Reddit Sans Bold" pitchFamily="34" charset="-122"/>
                <a:cs typeface="Reddit Sans Bold" pitchFamily="34" charset="-120"/>
              </a:rPr>
              <a:t>Safe autonomously:</a:t>
            </a: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 search, analyze, recommend, draft and validate.</a:t>
            </a:r>
            <a:endParaRPr lang="en-US" sz="1650" dirty="0"/>
          </a:p>
          <a:p>
            <a:pPr marL="0" indent="0" algn="l">
              <a:lnSpc>
                <a:spcPct val="121000"/>
              </a:lnSpc>
              <a:buNone/>
            </a:pPr>
            <a:r>
              <a:rPr lang="en-US" sz="1650" b="1" dirty="0">
                <a:solidFill>
                  <a:srgbClr val="35233F"/>
                </a:solidFill>
                <a:latin typeface="Reddit Sans Bold" pitchFamily="34" charset="0"/>
                <a:ea typeface="Reddit Sans Bold" pitchFamily="34" charset="-122"/>
                <a:cs typeface="Reddit Sans Bold" pitchFamily="34" charset="-120"/>
              </a:rPr>
              <a:t>Human approval:</a:t>
            </a: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 booking or financial commitment.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7643423" y="2074168"/>
            <a:ext cx="82667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650" dirty="0">
                <a:solidFill>
                  <a:srgbClr val="8054D9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01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070053" y="2027277"/>
            <a:ext cx="3410361" cy="3038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b="1" dirty="0">
                <a:solidFill>
                  <a:srgbClr val="35233F"/>
                </a:solidFill>
                <a:latin typeface="Reddit Sans Bold" pitchFamily="34" charset="0"/>
                <a:ea typeface="Reddit Sans Bold" pitchFamily="34" charset="-122"/>
                <a:cs typeface="Reddit Sans Bold" pitchFamily="34" charset="-120"/>
              </a:rPr>
              <a:t>Manager</a:t>
            </a: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 detects the conflict.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643423" y="2581176"/>
            <a:ext cx="866356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650" dirty="0">
                <a:solidFill>
                  <a:srgbClr val="8054D9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02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8109739" y="2534285"/>
            <a:ext cx="3370674" cy="607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b="1" dirty="0">
                <a:solidFill>
                  <a:srgbClr val="35233F"/>
                </a:solidFill>
                <a:latin typeface="Reddit Sans Bold" pitchFamily="34" charset="0"/>
                <a:ea typeface="Reddit Sans Bold" pitchFamily="34" charset="-122"/>
                <a:cs typeface="Reddit Sans Bold" pitchFamily="34" charset="-120"/>
              </a:rPr>
              <a:t>Planner</a:t>
            </a: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 searches alternative venues.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7643423" y="3391991"/>
            <a:ext cx="865761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650" dirty="0">
                <a:solidFill>
                  <a:srgbClr val="8054D9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03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8109144" y="3345101"/>
            <a:ext cx="3371270" cy="607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b="1" dirty="0">
                <a:solidFill>
                  <a:srgbClr val="35233F"/>
                </a:solidFill>
                <a:latin typeface="Reddit Sans Bold" pitchFamily="34" charset="0"/>
                <a:ea typeface="Reddit Sans Bold" pitchFamily="34" charset="-122"/>
                <a:cs typeface="Reddit Sans Bold" pitchFamily="34" charset="-120"/>
              </a:rPr>
              <a:t>Policy Advisor</a:t>
            </a: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 re-checks compliance.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7643423" y="4202807"/>
            <a:ext cx="872012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650" dirty="0">
                <a:solidFill>
                  <a:srgbClr val="8054D9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04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115395" y="4155916"/>
            <a:ext cx="3365019" cy="607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b="1" dirty="0">
                <a:solidFill>
                  <a:srgbClr val="35233F"/>
                </a:solidFill>
                <a:latin typeface="Reddit Sans Bold" pitchFamily="34" charset="0"/>
                <a:ea typeface="Reddit Sans Bold" pitchFamily="34" charset="-122"/>
                <a:cs typeface="Reddit Sans Bold" pitchFamily="34" charset="-120"/>
              </a:rPr>
              <a:t>Procurement</a:t>
            </a: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 validates revised cost and approval level.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7643423" y="5013623"/>
            <a:ext cx="867249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650" dirty="0">
                <a:solidFill>
                  <a:srgbClr val="8054D9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05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8110632" y="4966732"/>
            <a:ext cx="3369781" cy="3038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b="1" dirty="0">
                <a:solidFill>
                  <a:srgbClr val="35233F"/>
                </a:solidFill>
                <a:latin typeface="Reddit Sans Bold" pitchFamily="34" charset="0"/>
                <a:ea typeface="Reddit Sans Bold" pitchFamily="34" charset="-122"/>
                <a:cs typeface="Reddit Sans Bold" pitchFamily="34" charset="-120"/>
              </a:rPr>
              <a:t>Critic</a:t>
            </a: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 reviews the revised plan.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7643423" y="5520630"/>
            <a:ext cx="867845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650" dirty="0">
                <a:solidFill>
                  <a:srgbClr val="8054D9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06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8111228" y="5473740"/>
            <a:ext cx="3369186" cy="607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b="1" dirty="0">
                <a:solidFill>
                  <a:srgbClr val="35233F"/>
                </a:solidFill>
                <a:latin typeface="Reddit Sans Bold" pitchFamily="34" charset="0"/>
                <a:ea typeface="Reddit Sans Bold" pitchFamily="34" charset="-122"/>
                <a:cs typeface="Reddit Sans Bold" pitchFamily="34" charset="-120"/>
              </a:rPr>
              <a:t>Human</a:t>
            </a: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 approves the consequential step.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711182" y="6376710"/>
            <a:ext cx="11378915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5E4B68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The system does not merely automate a path. It keeps the plan alive when reality changes.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643423" y="2426097"/>
            <a:ext cx="3836991" cy="12700"/>
          </a:xfrm>
          <a:prstGeom prst="rect">
            <a:avLst/>
          </a:prstGeom>
          <a:solidFill>
            <a:srgbClr val="8054D9"/>
          </a:solidFill>
          <a:ln/>
        </p:spPr>
      </p:sp>
      <p:sp>
        <p:nvSpPr>
          <p:cNvPr id="25" name="Shape 23"/>
          <p:cNvSpPr/>
          <p:nvPr/>
        </p:nvSpPr>
        <p:spPr>
          <a:xfrm>
            <a:off x="7643423" y="3236913"/>
            <a:ext cx="3836991" cy="12700"/>
          </a:xfrm>
          <a:prstGeom prst="rect">
            <a:avLst/>
          </a:prstGeom>
          <a:solidFill>
            <a:srgbClr val="8054D9"/>
          </a:solidFill>
          <a:ln/>
        </p:spPr>
      </p:sp>
      <p:sp>
        <p:nvSpPr>
          <p:cNvPr id="26" name="Shape 24"/>
          <p:cNvSpPr/>
          <p:nvPr/>
        </p:nvSpPr>
        <p:spPr>
          <a:xfrm>
            <a:off x="7643423" y="4047728"/>
            <a:ext cx="3836991" cy="12700"/>
          </a:xfrm>
          <a:prstGeom prst="rect">
            <a:avLst/>
          </a:prstGeom>
          <a:solidFill>
            <a:srgbClr val="8054D9"/>
          </a:solidFill>
          <a:ln/>
        </p:spPr>
      </p:sp>
      <p:sp>
        <p:nvSpPr>
          <p:cNvPr id="27" name="Shape 25"/>
          <p:cNvSpPr/>
          <p:nvPr/>
        </p:nvSpPr>
        <p:spPr>
          <a:xfrm>
            <a:off x="7643423" y="4858544"/>
            <a:ext cx="3836991" cy="12700"/>
          </a:xfrm>
          <a:prstGeom prst="rect">
            <a:avLst/>
          </a:prstGeom>
          <a:solidFill>
            <a:srgbClr val="8054D9"/>
          </a:solidFill>
          <a:ln/>
        </p:spPr>
      </p:sp>
      <p:sp>
        <p:nvSpPr>
          <p:cNvPr id="28" name="Shape 26"/>
          <p:cNvSpPr/>
          <p:nvPr/>
        </p:nvSpPr>
        <p:spPr>
          <a:xfrm>
            <a:off x="7643423" y="5365552"/>
            <a:ext cx="3836991" cy="12700"/>
          </a:xfrm>
          <a:prstGeom prst="rect">
            <a:avLst/>
          </a:prstGeom>
          <a:solidFill>
            <a:srgbClr val="8054D9"/>
          </a:solidFill>
          <a:ln/>
        </p:spPr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41BB8EA-6655-D9AA-CE46-DD3C269AB5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474" y="6331432"/>
            <a:ext cx="1143526" cy="5265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102373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1182" y="1390452"/>
            <a:ext cx="11378915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kern="100" spc="7" dirty="0">
                <a:solidFill>
                  <a:srgbClr val="8054D9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PILOT SCORECARD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711182" y="1720461"/>
            <a:ext cx="10769331" cy="8776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3200" kern="100" spc="-38" dirty="0">
                <a:solidFill>
                  <a:srgbClr val="35233F"/>
                </a:solidFill>
                <a:latin typeface="Parkinsans SemiBold" pitchFamily="34" charset="0"/>
                <a:ea typeface="Parkinsans SemiBold" pitchFamily="34" charset="-122"/>
                <a:cs typeface="Parkinsans SemiBold" pitchFamily="34" charset="-120"/>
              </a:rPr>
              <a:t>Business impact: faster, safer and more controllable operations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711182" y="2782491"/>
            <a:ext cx="336115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35233F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Productivity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711182" y="3238341"/>
            <a:ext cx="3361150" cy="9114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Request-to-approval time, manual touchpoints and requests resolved without intervention.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4529520" y="2782491"/>
            <a:ext cx="3132555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35233F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Cost control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4529520" y="3238341"/>
            <a:ext cx="3132555" cy="607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Leakage avoided, duplicate invoices and invoice mismatches.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8119264" y="2782491"/>
            <a:ext cx="336115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35233F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Compliance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8119264" y="3238341"/>
            <a:ext cx="3361150" cy="9114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Policy violations, approval compliance and audit completeness.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711182" y="4617839"/>
            <a:ext cx="336115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35233F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Employee experience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11182" y="5073690"/>
            <a:ext cx="3361150" cy="607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Resolution time, SLA adherence and status-query reduction.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4529520" y="4617839"/>
            <a:ext cx="6950893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35233F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Scalability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4529520" y="5073690"/>
            <a:ext cx="6950893" cy="607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Extend the same architecture to facilities, catering, travel and office services.</a:t>
            </a:r>
            <a:endParaRPr lang="en-US" sz="1650" dirty="0"/>
          </a:p>
        </p:txBody>
      </p:sp>
      <p:sp>
        <p:nvSpPr>
          <p:cNvPr id="15" name="Shape 12"/>
          <p:cNvSpPr/>
          <p:nvPr/>
        </p:nvSpPr>
        <p:spPr>
          <a:xfrm>
            <a:off x="711182" y="5868392"/>
            <a:ext cx="10769331" cy="608608"/>
          </a:xfrm>
          <a:prstGeom prst="rect">
            <a:avLst/>
          </a:prstGeom>
          <a:solidFill>
            <a:srgbClr val="FBEFE4"/>
          </a:solidFill>
          <a:ln/>
        </p:spPr>
      </p:sp>
      <p:sp>
        <p:nvSpPr>
          <p:cNvPr id="16" name="Text 13"/>
          <p:cNvSpPr/>
          <p:nvPr/>
        </p:nvSpPr>
        <p:spPr>
          <a:xfrm>
            <a:off x="939776" y="6021030"/>
            <a:ext cx="10540736" cy="3038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b="1" dirty="0">
                <a:solidFill>
                  <a:srgbClr val="35233F"/>
                </a:solidFill>
                <a:latin typeface="Reddit Sans Bold" pitchFamily="34" charset="0"/>
                <a:ea typeface="Reddit Sans Bold" pitchFamily="34" charset="-122"/>
                <a:cs typeface="Reddit Sans Bold" pitchFamily="34" charset="-120"/>
              </a:rPr>
              <a:t>Pilot KPIs to measure — not fabricated percentages.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4294576" y="2771378"/>
            <a:ext cx="12700" cy="1606748"/>
          </a:xfrm>
          <a:prstGeom prst="rect">
            <a:avLst/>
          </a:prstGeom>
          <a:solidFill>
            <a:srgbClr val="8054D9"/>
          </a:solidFill>
          <a:ln/>
        </p:spPr>
      </p:sp>
      <p:sp>
        <p:nvSpPr>
          <p:cNvPr id="18" name="Shape 15"/>
          <p:cNvSpPr/>
          <p:nvPr/>
        </p:nvSpPr>
        <p:spPr>
          <a:xfrm>
            <a:off x="7884320" y="2771378"/>
            <a:ext cx="12700" cy="1606748"/>
          </a:xfrm>
          <a:prstGeom prst="rect">
            <a:avLst/>
          </a:prstGeom>
          <a:solidFill>
            <a:srgbClr val="8054D9"/>
          </a:solidFill>
          <a:ln/>
        </p:spPr>
      </p:sp>
      <p:sp>
        <p:nvSpPr>
          <p:cNvPr id="19" name="Shape 16"/>
          <p:cNvSpPr/>
          <p:nvPr/>
        </p:nvSpPr>
        <p:spPr>
          <a:xfrm>
            <a:off x="711182" y="4371777"/>
            <a:ext cx="3589744" cy="12700"/>
          </a:xfrm>
          <a:prstGeom prst="rect">
            <a:avLst/>
          </a:prstGeom>
          <a:solidFill>
            <a:srgbClr val="8054D9"/>
          </a:solidFill>
          <a:ln/>
        </p:spPr>
      </p:sp>
      <p:sp>
        <p:nvSpPr>
          <p:cNvPr id="20" name="Shape 17"/>
          <p:cNvSpPr/>
          <p:nvPr/>
        </p:nvSpPr>
        <p:spPr>
          <a:xfrm>
            <a:off x="4294576" y="4378127"/>
            <a:ext cx="12700" cy="1302941"/>
          </a:xfrm>
          <a:prstGeom prst="rect">
            <a:avLst/>
          </a:prstGeom>
          <a:solidFill>
            <a:srgbClr val="8054D9"/>
          </a:solidFill>
          <a:ln/>
        </p:spPr>
      </p:sp>
      <p:sp>
        <p:nvSpPr>
          <p:cNvPr id="21" name="Shape 18"/>
          <p:cNvSpPr/>
          <p:nvPr/>
        </p:nvSpPr>
        <p:spPr>
          <a:xfrm>
            <a:off x="4300926" y="4371777"/>
            <a:ext cx="7179488" cy="12700"/>
          </a:xfrm>
          <a:prstGeom prst="rect">
            <a:avLst/>
          </a:prstGeom>
          <a:solidFill>
            <a:srgbClr val="8054D9"/>
          </a:solidFill>
          <a:ln/>
        </p:spPr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9700AFF1-1DF0-1068-46C9-F66015C183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474" y="6331432"/>
            <a:ext cx="1143526" cy="52656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182" y="569913"/>
            <a:ext cx="7416614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kern="100" spc="7" dirty="0">
                <a:solidFill>
                  <a:srgbClr val="8054D9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THE SINGULARITY SYSTEM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11182" y="899922"/>
            <a:ext cx="6807030" cy="13165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3200" kern="100" spc="-38" dirty="0">
                <a:solidFill>
                  <a:srgbClr val="35233F"/>
                </a:solidFill>
                <a:latin typeface="Parkinsans SemiBold" pitchFamily="34" charset="0"/>
                <a:ea typeface="Parkinsans SemiBold" pitchFamily="34" charset="-122"/>
                <a:cs typeface="Parkinsans SemiBold" pitchFamily="34" charset="-120"/>
              </a:rPr>
              <a:t>From request to payment: intelligent, connected and accountable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11182" y="2389684"/>
            <a:ext cx="82667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650" dirty="0">
                <a:solidFill>
                  <a:srgbClr val="8054D9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01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11182" y="2683073"/>
            <a:ext cx="1132653" cy="19050"/>
          </a:xfrm>
          <a:prstGeom prst="rect">
            <a:avLst/>
          </a:prstGeom>
          <a:solidFill>
            <a:srgbClr val="8054D9"/>
          </a:solidFill>
          <a:ln/>
        </p:spPr>
      </p:sp>
      <p:sp>
        <p:nvSpPr>
          <p:cNvPr id="6" name="Text 4"/>
          <p:cNvSpPr/>
          <p:nvPr/>
        </p:nvSpPr>
        <p:spPr>
          <a:xfrm>
            <a:off x="711182" y="2798961"/>
            <a:ext cx="1132752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35233F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Request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11182" y="3254812"/>
            <a:ext cx="1132752" cy="12152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Employee need enters once, with context.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2301123" y="2389684"/>
            <a:ext cx="866356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650" dirty="0">
                <a:solidFill>
                  <a:srgbClr val="8054D9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02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2301123" y="2683073"/>
            <a:ext cx="904257" cy="19050"/>
          </a:xfrm>
          <a:prstGeom prst="rect">
            <a:avLst/>
          </a:prstGeom>
          <a:solidFill>
            <a:srgbClr val="8054D9"/>
          </a:solidFill>
          <a:ln/>
        </p:spPr>
      </p:sp>
      <p:sp>
        <p:nvSpPr>
          <p:cNvPr id="10" name="Text 8"/>
          <p:cNvSpPr/>
          <p:nvPr/>
        </p:nvSpPr>
        <p:spPr>
          <a:xfrm>
            <a:off x="2301123" y="2798961"/>
            <a:ext cx="904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35233F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Manager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301123" y="3572312"/>
            <a:ext cx="904257" cy="18228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AI Manager coordinates specialist agents.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3662569" y="2389684"/>
            <a:ext cx="865761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650" dirty="0">
                <a:solidFill>
                  <a:srgbClr val="8054D9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03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3662569" y="2683073"/>
            <a:ext cx="904158" cy="19050"/>
          </a:xfrm>
          <a:prstGeom prst="rect">
            <a:avLst/>
          </a:prstGeom>
          <a:solidFill>
            <a:srgbClr val="8054D9"/>
          </a:solidFill>
          <a:ln/>
        </p:spPr>
      </p:sp>
      <p:sp>
        <p:nvSpPr>
          <p:cNvPr id="14" name="Text 12"/>
          <p:cNvSpPr/>
          <p:nvPr/>
        </p:nvSpPr>
        <p:spPr>
          <a:xfrm>
            <a:off x="3662569" y="2798961"/>
            <a:ext cx="904158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35233F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Systems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662569" y="3572312"/>
            <a:ext cx="904158" cy="15190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Enterprise tools carry the plan into action.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5023915" y="2389684"/>
            <a:ext cx="872012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650" dirty="0">
                <a:solidFill>
                  <a:srgbClr val="8054D9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04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5023915" y="2683073"/>
            <a:ext cx="904257" cy="19050"/>
          </a:xfrm>
          <a:prstGeom prst="rect">
            <a:avLst/>
          </a:prstGeom>
          <a:solidFill>
            <a:srgbClr val="8054D9"/>
          </a:solidFill>
          <a:ln/>
        </p:spPr>
      </p:sp>
      <p:sp>
        <p:nvSpPr>
          <p:cNvPr id="18" name="Text 16"/>
          <p:cNvSpPr/>
          <p:nvPr/>
        </p:nvSpPr>
        <p:spPr>
          <a:xfrm>
            <a:off x="5023915" y="2798961"/>
            <a:ext cx="904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35233F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Approval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023915" y="3572312"/>
            <a:ext cx="904257" cy="18228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Humans gate consequential commitments.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6385361" y="2389684"/>
            <a:ext cx="867249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650" dirty="0">
                <a:solidFill>
                  <a:srgbClr val="8054D9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05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6385361" y="2683073"/>
            <a:ext cx="1132653" cy="19050"/>
          </a:xfrm>
          <a:prstGeom prst="rect">
            <a:avLst/>
          </a:prstGeom>
          <a:solidFill>
            <a:srgbClr val="8054D9"/>
          </a:solidFill>
          <a:ln/>
        </p:spPr>
      </p:sp>
      <p:sp>
        <p:nvSpPr>
          <p:cNvPr id="22" name="Text 20"/>
          <p:cNvSpPr/>
          <p:nvPr/>
        </p:nvSpPr>
        <p:spPr>
          <a:xfrm>
            <a:off x="6385361" y="2798961"/>
            <a:ext cx="1132752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35233F"/>
                </a:solidFill>
                <a:latin typeface="Reddit Sans SemiBold" pitchFamily="34" charset="0"/>
                <a:ea typeface="Reddit Sans SemiBold" pitchFamily="34" charset="-122"/>
                <a:cs typeface="Reddit Sans SemiBold" pitchFamily="34" charset="-120"/>
              </a:rPr>
              <a:t>Payment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385361" y="3254812"/>
            <a:ext cx="1132752" cy="15190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Invoice checks close the loop into audit.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711182" y="5582245"/>
            <a:ext cx="6807030" cy="1216223"/>
          </a:xfrm>
          <a:prstGeom prst="rect">
            <a:avLst/>
          </a:prstGeom>
          <a:solidFill>
            <a:srgbClr val="FBEFE4"/>
          </a:solidFill>
          <a:ln/>
        </p:spPr>
      </p:sp>
      <p:sp>
        <p:nvSpPr>
          <p:cNvPr id="25" name="Text 23"/>
          <p:cNvSpPr/>
          <p:nvPr/>
        </p:nvSpPr>
        <p:spPr>
          <a:xfrm>
            <a:off x="914377" y="5734883"/>
            <a:ext cx="6400640" cy="9114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650" b="1" dirty="0">
                <a:solidFill>
                  <a:srgbClr val="35233F"/>
                </a:solidFill>
                <a:latin typeface="Reddit Sans Bold" pitchFamily="34" charset="0"/>
                <a:ea typeface="Reddit Sans Bold" pitchFamily="34" charset="-122"/>
                <a:cs typeface="Reddit Sans Bold" pitchFamily="34" charset="-120"/>
              </a:rPr>
              <a:t>Agentic</a:t>
            </a: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 · reasons and coordinates beyond fixed workflows</a:t>
            </a:r>
            <a:endParaRPr lang="en-US" sz="1650" dirty="0"/>
          </a:p>
          <a:p>
            <a:pPr marL="0" indent="0" algn="l">
              <a:lnSpc>
                <a:spcPct val="121000"/>
              </a:lnSpc>
              <a:buNone/>
            </a:pPr>
            <a:r>
              <a:rPr lang="en-US" sz="1650" b="1" dirty="0">
                <a:solidFill>
                  <a:srgbClr val="35233F"/>
                </a:solidFill>
                <a:latin typeface="Reddit Sans Bold" pitchFamily="34" charset="0"/>
                <a:ea typeface="Reddit Sans Bold" pitchFamily="34" charset="-122"/>
                <a:cs typeface="Reddit Sans Bold" pitchFamily="34" charset="-120"/>
              </a:rPr>
              <a:t>Connected</a:t>
            </a: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 · one shared state across the lifecycle</a:t>
            </a:r>
            <a:endParaRPr lang="en-US" sz="1650" dirty="0"/>
          </a:p>
          <a:p>
            <a:pPr marL="0" indent="0" algn="l">
              <a:lnSpc>
                <a:spcPct val="121000"/>
              </a:lnSpc>
              <a:buNone/>
            </a:pPr>
            <a:r>
              <a:rPr lang="en-US" sz="1650" b="1" dirty="0">
                <a:solidFill>
                  <a:srgbClr val="35233F"/>
                </a:solidFill>
                <a:latin typeface="Reddit Sans Bold" pitchFamily="34" charset="0"/>
                <a:ea typeface="Reddit Sans Bold" pitchFamily="34" charset="-122"/>
                <a:cs typeface="Reddit Sans Bold" pitchFamily="34" charset="-120"/>
              </a:rPr>
              <a:t>Self-recovering</a:t>
            </a:r>
            <a:r>
              <a:rPr lang="en-US" sz="1650" dirty="0">
                <a:solidFill>
                  <a:srgbClr val="35233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 · detects conflicts and replans</a:t>
            </a:r>
            <a:endParaRPr lang="en-US" sz="1650" dirty="0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7797" y="0"/>
            <a:ext cx="4063898" cy="7281069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2066179" y="2389684"/>
            <a:ext cx="12700" cy="3005237"/>
          </a:xfrm>
          <a:prstGeom prst="rect">
            <a:avLst/>
          </a:prstGeom>
          <a:solidFill>
            <a:srgbClr val="8054D9"/>
          </a:solidFill>
          <a:ln/>
        </p:spPr>
      </p:sp>
      <p:sp>
        <p:nvSpPr>
          <p:cNvPr id="28" name="Shape 25"/>
          <p:cNvSpPr/>
          <p:nvPr/>
        </p:nvSpPr>
        <p:spPr>
          <a:xfrm>
            <a:off x="3427624" y="2389684"/>
            <a:ext cx="12700" cy="3005237"/>
          </a:xfrm>
          <a:prstGeom prst="rect">
            <a:avLst/>
          </a:prstGeom>
          <a:solidFill>
            <a:srgbClr val="8054D9"/>
          </a:solidFill>
          <a:ln/>
        </p:spPr>
      </p:sp>
      <p:sp>
        <p:nvSpPr>
          <p:cNvPr id="29" name="Shape 26"/>
          <p:cNvSpPr/>
          <p:nvPr/>
        </p:nvSpPr>
        <p:spPr>
          <a:xfrm>
            <a:off x="4788971" y="2389684"/>
            <a:ext cx="12700" cy="3005237"/>
          </a:xfrm>
          <a:prstGeom prst="rect">
            <a:avLst/>
          </a:prstGeom>
          <a:solidFill>
            <a:srgbClr val="8054D9"/>
          </a:solidFill>
          <a:ln/>
        </p:spPr>
      </p:sp>
      <p:sp>
        <p:nvSpPr>
          <p:cNvPr id="30" name="Shape 27"/>
          <p:cNvSpPr/>
          <p:nvPr/>
        </p:nvSpPr>
        <p:spPr>
          <a:xfrm>
            <a:off x="6150416" y="2389684"/>
            <a:ext cx="12700" cy="3005237"/>
          </a:xfrm>
          <a:prstGeom prst="rect">
            <a:avLst/>
          </a:prstGeom>
          <a:solidFill>
            <a:srgbClr val="8054D9"/>
          </a:solidFill>
          <a:ln/>
        </p:spPr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22BAF00-0F9C-6CF1-5DE2-5F3C7DE57A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2159" y="6754502"/>
            <a:ext cx="1143526" cy="52656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63C6E53-091C-2388-9C4E-C9F1400E7E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A817647-1CE2-6274-BA96-A7BD417E0A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474" y="6331433"/>
            <a:ext cx="1143526" cy="526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9362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1549</TotalTime>
  <Words>638</Words>
  <Application>Microsoft Office PowerPoint</Application>
  <PresentationFormat>Widescreen</PresentationFormat>
  <Paragraphs>116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Parkinsans SemiBold</vt:lpstr>
      <vt:lpstr>Reddit Sans</vt:lpstr>
      <vt:lpstr>Reddit Sans Bold</vt:lpstr>
      <vt:lpstr>Reddit Sans SemiBold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SHIVAM KUMAR SINHA</cp:lastModifiedBy>
  <cp:revision>4</cp:revision>
  <dcterms:created xsi:type="dcterms:W3CDTF">2026-10-17T09:14:19Z</dcterms:created>
  <dcterms:modified xsi:type="dcterms:W3CDTF">2026-10-18T11:08:44Z</dcterms:modified>
</cp:coreProperties>
</file>